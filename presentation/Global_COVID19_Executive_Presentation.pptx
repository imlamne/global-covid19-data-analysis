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576072"/>
            <a:ext cx="64008" cy="420624"/>
          </a:xfrm>
          <a:prstGeom prst="rect">
            <a:avLst/>
          </a:prstGeom>
          <a:solidFill>
            <a:srgbClr val="31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94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1ADA4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9848"/>
            <a:ext cx="100584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Global COVID-19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C1D3E1"/>
                </a:solidFill>
                <a:latin typeface="Aptos"/>
              </a:defRPr>
            </a:pPr>
            <a:r>
              <a:t>Historical reporting analysis | January 2020 to April 2021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1ADA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980944"/>
            <a:ext cx="106070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Examine how reported COVID-19 cases changed over time, how mortality differed across locations, and whether the source data support reliable comparisons.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" y="4187952"/>
            <a:ext cx="10881360" cy="20116"/>
          </a:xfrm>
          <a:prstGeom prst="rect">
            <a:avLst/>
          </a:prstGeom>
          <a:solidFill>
            <a:srgbClr val="446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4443984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1ADA4"/>
                </a:solidFill>
                <a:latin typeface="Aptos"/>
              </a:defRPr>
            </a:pPr>
            <a:r>
              <a:t>THREE ANALYTICAL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4928616"/>
            <a:ext cx="429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1AD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91947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5394960"/>
            <a:ext cx="32004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1D3E1"/>
                </a:solidFill>
                <a:latin typeface="Aptos"/>
              </a:defRPr>
            </a:pPr>
            <a:r>
              <a:t>Monthly reported case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4928616"/>
            <a:ext cx="429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1ADA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1" y="491947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5394960"/>
            <a:ext cx="32004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1D3E1"/>
                </a:solidFill>
                <a:latin typeface="Aptos"/>
              </a:defRPr>
            </a:pPr>
            <a:r>
              <a:t>Deaths by continent and per 100K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4928616"/>
            <a:ext cx="429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1ADA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91947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HOW RELIABLE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2" y="5394960"/>
            <a:ext cx="32004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1D3E1"/>
                </a:solidFill>
                <a:latin typeface="Aptos"/>
              </a:defRPr>
            </a:pPr>
            <a:r>
              <a:t>Missing values, adjustments and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641908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C1D3E1"/>
                </a:solidFill>
                <a:latin typeface="Aptos"/>
              </a:defRPr>
            </a:pPr>
            <a:r>
              <a:t>SQL Server  •  Tableau  •  Historical OWID data  •  Snapshot: April 30,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ounded Rectangle 15"/>
          <p:cNvSpPr/>
          <p:nvPr/>
        </p:nvSpPr>
        <p:spPr>
          <a:xfrm>
            <a:off x="8375904" y="3026664"/>
            <a:ext cx="3191256" cy="2240280"/>
          </a:xfrm>
          <a:prstGeom prst="roundRect">
            <a:avLst/>
          </a:prstGeom>
          <a:solidFill>
            <a:srgbClr val="21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17136" y="3026664"/>
            <a:ext cx="3191256" cy="2240280"/>
          </a:xfrm>
          <a:prstGeom prst="roundRect">
            <a:avLst/>
          </a:prstGeom>
          <a:solidFill>
            <a:srgbClr val="21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3026664"/>
            <a:ext cx="3191256" cy="2240280"/>
          </a:xfrm>
          <a:prstGeom prst="roundRect">
            <a:avLst/>
          </a:prstGeom>
          <a:solidFill>
            <a:srgbClr val="21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612648" y="740664"/>
            <a:ext cx="621792" cy="54864"/>
          </a:xfrm>
          <a:prstGeom prst="rect">
            <a:avLst/>
          </a:prstGeom>
          <a:solidFill>
            <a:srgbClr val="4BB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594360"/>
            <a:ext cx="8229600" cy="4389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800" b="1">
                <a:solidFill>
                  <a:srgbClr val="69E0CF"/>
                </a:solidFill>
                <a:latin typeface="Aptos"/>
              </a:rP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188720"/>
            <a:ext cx="10881360" cy="5943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3100" b="1">
                <a:solidFill>
                  <a:srgbClr val="F8FBFF"/>
                </a:solidFill>
                <a:latin typeface="Aptos"/>
              </a:rPr>
              <a:t>COVID-19 reported burden at the cutoff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865376"/>
            <a:ext cx="10789920" cy="42062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800" b="0">
                <a:solidFill>
                  <a:srgbClr val="BBCFDE"/>
                </a:solidFill>
                <a:latin typeface="Aptos"/>
              </a:rPr>
              <a:t>April 30, 2021   •   182 eligible locations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2569464"/>
            <a:ext cx="10789920" cy="16459"/>
          </a:xfrm>
          <a:prstGeom prst="rect">
            <a:avLst/>
          </a:prstGeom>
          <a:solidFill>
            <a:srgbClr val="4B6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55848"/>
            <a:ext cx="2880360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6BBC8"/>
                </a:solidFill>
                <a:latin typeface="Aptos"/>
              </a:defRPr>
            </a:pPr>
            <a:r>
              <a:rPr sz="1600" b="1">
                <a:solidFill>
                  <a:srgbClr val="BBCFDE"/>
                </a:solidFill>
                <a:latin typeface="Aptos"/>
              </a:rPr>
              <a:t>REPORTED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41648"/>
            <a:ext cx="2880360" cy="7772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rPr sz="4300" b="1">
                <a:solidFill>
                  <a:srgbClr val="F8FBFF"/>
                </a:solidFill>
                <a:latin typeface="Aptos"/>
              </a:rPr>
              <a:t>151.40M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3355848"/>
            <a:ext cx="2880360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6BBC8"/>
                </a:solidFill>
                <a:latin typeface="Aptos"/>
              </a:defRPr>
            </a:pPr>
            <a:r>
              <a:rPr sz="1600" b="1">
                <a:solidFill>
                  <a:srgbClr val="BBCFDE"/>
                </a:solidFill>
                <a:latin typeface="Aptos"/>
              </a:rPr>
              <a:t>REPORTED DEATHS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4041648"/>
            <a:ext cx="2880360" cy="7772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rPr sz="4300" b="1">
                <a:solidFill>
                  <a:srgbClr val="F8FBFF"/>
                </a:solidFill>
                <a:latin typeface="Aptos"/>
              </a:rPr>
              <a:t>3.18M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0496" y="3355848"/>
            <a:ext cx="2880360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6BBC8"/>
                </a:solidFill>
                <a:latin typeface="Aptos"/>
              </a:defRPr>
            </a:pPr>
            <a:r>
              <a:rPr sz="1600" b="1">
                <a:solidFill>
                  <a:srgbClr val="BBCFDE"/>
                </a:solidFill>
                <a:latin typeface="Aptos"/>
              </a:rPr>
              <a:t>CASE FATALITY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0496" y="4041648"/>
            <a:ext cx="2880360" cy="7772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Aft>
                <a:spcPts val="5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rPr sz="4300" b="1">
                <a:solidFill>
                  <a:srgbClr val="F8FBFF"/>
                </a:solidFill>
                <a:latin typeface="Aptos"/>
              </a:rPr>
              <a:t>2.10%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5870448"/>
            <a:ext cx="10881360" cy="3931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6BBC8"/>
                </a:solidFill>
                <a:latin typeface="Aptos"/>
              </a:defRPr>
            </a:pPr>
            <a:r>
              <a:rPr sz="1500" b="0">
                <a:solidFill>
                  <a:srgbClr val="BBCFDE"/>
                </a:solidFill>
                <a:latin typeface="Aptos"/>
              </a:rPr>
              <a:t>Source: Historical OWID data   •   January 2020 to April 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6400800" cy="246888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A7D74"/>
                </a:solidFill>
                <a:latin typeface="Aptos"/>
              </a:defRPr>
            </a:pPr>
            <a:r>
              <a:t>01  |  TEMPORAL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83F"/>
                </a:solidFill>
                <a:latin typeface="Aptos"/>
              </a:defRPr>
            </a:pPr>
            <a:r>
              <a:t>Reported cases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0972800" cy="347472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C6F82"/>
                </a:solidFill>
                <a:latin typeface="Aptos"/>
              </a:defRPr>
            </a:pPr>
            <a:r>
              <a:t>Monthly net change in reported COVID-19 cases  •  January 2020 to April 2021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64808"/>
            <a:ext cx="11192256" cy="10972"/>
          </a:xfrm>
          <a:prstGeom prst="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6547104"/>
            <a:ext cx="9144000" cy="18288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C6F82"/>
                </a:solidFill>
                <a:latin typeface="Aptos"/>
              </a:defRPr>
            </a:pPr>
            <a:r>
              <a:t>SOURCE  |  Historical OWID dataset via Alex The Analyst portfolio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r>
              <a:t>03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28216"/>
            <a:ext cx="7808975" cy="4443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(20261025-00580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85055"/>
            <a:ext cx="7479792" cy="38937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641080" y="1847088"/>
            <a:ext cx="3017520" cy="414223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51392" y="2093976"/>
            <a:ext cx="2633472" cy="41148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83F"/>
                </a:solidFill>
                <a:latin typeface="Aptos"/>
              </a:defRPr>
            </a:pPr>
            <a:r>
              <a:t>What changed?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392" y="2715768"/>
            <a:ext cx="2596896" cy="3026664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43041"/>
                </a:solidFill>
                <a:latin typeface="Aptos"/>
              </a:defRPr>
            </a:pPr>
            <a:r>
              <a:t>April 2021 recorded the highest monthly net change in the dataset: 22.50 million.</a:t>
            </a:r>
          </a:p>
          <a:p>
            <a:pPr>
              <a:spcAft>
                <a:spcPts val="500"/>
              </a:spcAft>
              <a:defRPr sz="1400" b="0">
                <a:solidFill>
                  <a:srgbClr val="2430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400" b="0">
                <a:solidFill>
                  <a:srgbClr val="243041"/>
                </a:solidFill>
                <a:latin typeface="Aptos"/>
              </a:defRPr>
            </a:pPr>
            <a:r>
              <a:t>The series includes historical negative reporting adjustments. It describes changes in reported figures, not the actual dates of infection.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6400800" cy="246888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A7D74"/>
                </a:solidFill>
                <a:latin typeface="Aptos"/>
              </a:defRPr>
            </a:pPr>
            <a:r>
              <a:t>02  |  GEOGRAPHIC BURDEN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83F"/>
                </a:solidFill>
                <a:latin typeface="Aptos"/>
              </a:defRPr>
            </a:pPr>
            <a:r>
              <a:t>Where were deaths concentrated?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0972800" cy="347472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C6F82"/>
                </a:solidFill>
                <a:latin typeface="Aptos"/>
              </a:defRPr>
            </a:pPr>
            <a:r>
              <a:t>Reported cumulative deaths by continent  •  April 30, 2021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64808"/>
            <a:ext cx="11192256" cy="10972"/>
          </a:xfrm>
          <a:prstGeom prst="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6547104"/>
            <a:ext cx="9144000" cy="18288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C6F82"/>
                </a:solidFill>
                <a:latin typeface="Aptos"/>
              </a:defRPr>
            </a:pPr>
            <a:r>
              <a:t>SOURCE  |  Historical OWID dataset via Alex The Analyst portfolio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r>
              <a:t>04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28216"/>
            <a:ext cx="7808975" cy="4443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(20261025-00584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368494"/>
            <a:ext cx="7516368" cy="280681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641080" y="1847088"/>
            <a:ext cx="3017520" cy="414223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51392" y="2093976"/>
            <a:ext cx="2633472" cy="41148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83F"/>
                </a:solidFill>
                <a:latin typeface="Aptos"/>
              </a:defRPr>
            </a:pPr>
            <a:r>
              <a:t>What stands out?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392" y="2715768"/>
            <a:ext cx="2596896" cy="3026664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43041"/>
                </a:solidFill>
                <a:latin typeface="Aptos"/>
              </a:defRPr>
            </a:pPr>
            <a:r>
              <a:t>Europe accounted for 1.02 million reported deaths, followed by North America (847,942) and South America (672,415).</a:t>
            </a:r>
          </a:p>
          <a:p>
            <a:pPr>
              <a:spcAft>
                <a:spcPts val="500"/>
              </a:spcAft>
              <a:defRPr sz="1400" b="0">
                <a:solidFill>
                  <a:srgbClr val="2430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400" b="0">
                <a:solidFill>
                  <a:srgbClr val="243041"/>
                </a:solidFill>
                <a:latin typeface="Aptos"/>
              </a:defRPr>
            </a:pPr>
            <a:r>
              <a:t>These are absolute reported totals. They do not measure population-adjusted mortality.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6400800" cy="246888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A7D74"/>
                </a:solidFill>
                <a:latin typeface="Aptos"/>
              </a:defRPr>
            </a:pPr>
            <a:r>
              <a:t>03  |  POPULATION ADJUSTMENT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83F"/>
                </a:solidFill>
                <a:latin typeface="Aptos"/>
              </a:defRPr>
            </a:pPr>
            <a:r>
              <a:t>Geographic variation in reported mortality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0972800" cy="347472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C6F82"/>
                </a:solidFill>
                <a:latin typeface="Aptos"/>
              </a:defRPr>
            </a:pPr>
            <a:r>
              <a:t>Cumulative COVID-19 deaths per 100,000 residents  •  April 30, 2021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64808"/>
            <a:ext cx="11192256" cy="10972"/>
          </a:xfrm>
          <a:prstGeom prst="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6547104"/>
            <a:ext cx="9144000" cy="18288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C6F82"/>
                </a:solidFill>
                <a:latin typeface="Aptos"/>
              </a:defRPr>
            </a:pPr>
            <a:r>
              <a:t>SOURCE  |  Historical OWID dataset via Alex The Analyst portfolio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r>
              <a:t>05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28216"/>
            <a:ext cx="8257031" cy="4443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(20261025-01010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536487"/>
            <a:ext cx="8019288" cy="27177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61120" y="1847088"/>
            <a:ext cx="2697480" cy="414223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1432" y="2093976"/>
            <a:ext cx="2313432" cy="41148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83F"/>
                </a:solidFill>
                <a:latin typeface="Aptos"/>
              </a:defRPr>
            </a:pPr>
            <a:r>
              <a:t>Why normalize?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432" y="2715768"/>
            <a:ext cx="2276856" cy="3026664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43041"/>
                </a:solidFill>
                <a:latin typeface="Aptos"/>
              </a:defRPr>
            </a:pPr>
            <a:r>
              <a:t>A population-based rate helps compare locations of different sizes.</a:t>
            </a:r>
          </a:p>
          <a:p>
            <a:pPr>
              <a:spcAft>
                <a:spcPts val="500"/>
              </a:spcAft>
              <a:defRPr sz="1400" b="0">
                <a:solidFill>
                  <a:srgbClr val="2430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400" b="0">
                <a:solidFill>
                  <a:srgbClr val="243041"/>
                </a:solidFill>
                <a:latin typeface="Aptos"/>
              </a:defRPr>
            </a:pPr>
            <a:r>
              <a:t>White or uncolored areas should not be interpreted as zero mortality. Reporting completeness and coverage vary.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6400800" cy="246888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A7D74"/>
                </a:solidFill>
                <a:latin typeface="Aptos"/>
              </a:defRPr>
            </a:pPr>
            <a:r>
              <a:t>04  |  LOCATION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83F"/>
                </a:solidFill>
                <a:latin typeface="Aptos"/>
              </a:defRPr>
            </a:pPr>
            <a:r>
              <a:t>Highest reported deaths per 100K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0972800" cy="347472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C6F82"/>
                </a:solidFill>
                <a:latin typeface="Aptos"/>
              </a:defRPr>
            </a:pPr>
            <a:r>
              <a:t>Top 10 eligible locations  •  April 30, 2021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64808"/>
            <a:ext cx="11192256" cy="10972"/>
          </a:xfrm>
          <a:prstGeom prst="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6547104"/>
            <a:ext cx="9144000" cy="18288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C6F82"/>
                </a:solidFill>
                <a:latin typeface="Aptos"/>
              </a:defRPr>
            </a:pPr>
            <a:r>
              <a:t>SOURCE  |  Historical OWID dataset via Alex The Analyst portfolio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r>
              <a:t>06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728216"/>
            <a:ext cx="7808975" cy="4443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(20261025-00593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75352"/>
            <a:ext cx="7525512" cy="333025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641080" y="1847088"/>
            <a:ext cx="3017520" cy="414223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51392" y="2093976"/>
            <a:ext cx="2633472" cy="41148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83F"/>
                </a:solidFill>
                <a:latin typeface="Aptos"/>
              </a:defRPr>
            </a:pPr>
            <a:r>
              <a:t>What stands out?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392" y="2715768"/>
            <a:ext cx="2596896" cy="3026664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43041"/>
                </a:solidFill>
                <a:latin typeface="Aptos"/>
              </a:defRPr>
            </a:pPr>
            <a:r>
              <a:t>Hungary (285.08), Czechia (273.29) and San Marino (265.19) led the eligible-location ranking.</a:t>
            </a:r>
          </a:p>
          <a:p>
            <a:pPr>
              <a:spcAft>
                <a:spcPts val="500"/>
              </a:spcAft>
              <a:defRPr sz="1400" b="0">
                <a:solidFill>
                  <a:srgbClr val="2430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400" b="0">
                <a:solidFill>
                  <a:srgbClr val="243041"/>
                </a:solidFill>
                <a:latin typeface="Aptos"/>
              </a:defRPr>
            </a:pPr>
            <a:r>
              <a:t>The analysis used 182 locations with valid snapshot inputs out of 210 scoped locations.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5176"/>
            <a:ext cx="6400800" cy="246888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A7D74"/>
                </a:solidFill>
                <a:latin typeface="Aptos"/>
              </a:defRPr>
            </a:pPr>
            <a:r>
              <a:t>05  |  REPORTING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83F"/>
                </a:solidFill>
                <a:latin typeface="Aptos"/>
              </a:defRPr>
            </a:pPr>
            <a:r>
              <a:t>What can the data reliably support?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25296"/>
            <a:ext cx="10972800" cy="347472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C6F82"/>
                </a:solidFill>
                <a:latin typeface="Aptos"/>
              </a:defRPr>
            </a:pPr>
            <a:r>
              <a:t>Vaccination field availability and implications for executive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64808"/>
            <a:ext cx="11192256" cy="10972"/>
          </a:xfrm>
          <a:prstGeom prst="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6547104"/>
            <a:ext cx="9144000" cy="18288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C6F82"/>
                </a:solidFill>
                <a:latin typeface="Aptos"/>
              </a:defRPr>
            </a:pPr>
            <a:r>
              <a:t>SOURCE  |  Historical OWID dataset via Alex The Analyst portfolio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r>
              <a:t>07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1783080"/>
            <a:ext cx="722376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(20261025-01001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26398"/>
            <a:ext cx="6784848" cy="254002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84632" y="5102352"/>
            <a:ext cx="11201400" cy="950976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285232"/>
            <a:ext cx="3108960" cy="283464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83F"/>
                </a:solidFill>
                <a:latin typeface="Aptos"/>
              </a:defRPr>
            </a:pPr>
            <a:r>
              <a:t>Reporting 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5276088"/>
            <a:ext cx="7754112" cy="539496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43041"/>
                </a:solidFill>
                <a:latin typeface="Aptos"/>
              </a:defRPr>
            </a:pPr>
            <a:r>
              <a:t>Publish cutoff dates and coverage. Keep absolute totals separate from population rates. Reconcile sparse vaccination data before reconstructing cumulative totals.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792224"/>
            <a:ext cx="3721608" cy="310896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039112"/>
            <a:ext cx="3337560" cy="411480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83F"/>
                </a:solidFill>
                <a:latin typeface="Aptos"/>
              </a:defRPr>
            </a:pPr>
            <a:r>
              <a:t>Data quality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660904"/>
            <a:ext cx="3300984" cy="1993391"/>
          </a:xfrm>
          <a:prstGeom prst="rect">
            <a:avLst/>
          </a:prstGeom>
          <a:noFill/>
        </p:spPr>
        <p:txBody>
          <a:bodyPr wrap="square" lIns="9144" rIns="9144" t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43041"/>
                </a:solidFill>
                <a:latin typeface="Aptos"/>
              </a:defRPr>
            </a:pPr>
            <a:r>
              <a:t>Daily vaccination availability: 8.63%.</a:t>
            </a:r>
          </a:p>
          <a:p>
            <a:pPr>
              <a:spcAft>
                <a:spcPts val="500"/>
              </a:spcAft>
              <a:defRPr sz="1400" b="0">
                <a:solidFill>
                  <a:srgbClr val="2430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400" b="0">
                <a:solidFill>
                  <a:srgbClr val="243041"/>
                </a:solidFill>
                <a:latin typeface="Aptos"/>
              </a:defRPr>
            </a:pPr>
            <a:r>
              <a:t>Cumulative vaccination availability: 10.37%.</a:t>
            </a:r>
          </a:p>
          <a:p>
            <a:pPr>
              <a:spcAft>
                <a:spcPts val="500"/>
              </a:spcAft>
              <a:defRPr sz="1400" b="0">
                <a:solidFill>
                  <a:srgbClr val="2430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400" b="0">
                <a:solidFill>
                  <a:srgbClr val="243041"/>
                </a:solidFill>
                <a:latin typeface="Aptos"/>
              </a:defRPr>
            </a:pPr>
            <a:r>
              <a:t>Both are based on 81,060 location-date records. A rolling sum of sparse daily reports is not equivalent to a complete cumulative series.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